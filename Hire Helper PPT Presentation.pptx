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2" r:id="rId9"/>
    <p:sldId id="267" r:id="rId10"/>
    <p:sldId id="266" r:id="rId11"/>
    <p:sldId id="264" r:id="rId12"/>
    <p:sldId id="265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8BC34C-C9D4-43DA-BC40-9B8040C4CE60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8F5A51-815F-4EF1-9E43-060FF3B464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4162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8F5A51-815F-4EF1-9E43-060FF3B46450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96809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A848F0-8689-41E2-4543-C8F33E9CE8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0D95676-6970-3EC5-0989-EB00BE4A7B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D64872-A11E-467E-6CBA-6604C6ED6E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9D0411-7916-4395-80C4-9F639AD6288A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5C6BE1-44D4-F87E-564A-9D1809DE05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83BAF6-8CEB-4DE5-23C4-04B257AE92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35361-F5DC-43D5-B6F6-BCBF8018D0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47435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6AD61B-3691-0825-E07F-02D522C4E0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1F5F35-572B-C8B4-1855-4E787504C4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8998C9-1BBB-14F7-E65C-701559B6A9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9D0411-7916-4395-80C4-9F639AD6288A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B6BE74-C568-C96A-FC3E-B6C0BEDBE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C7AC68-90E4-D3A7-7391-BFDC3458F1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35361-F5DC-43D5-B6F6-BCBF8018D0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38667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E16FE-7E52-74BE-7244-253449B5D9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6D6961-EF5F-B2CF-7FA5-D24AFEF22D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9EDB07-E234-ECAD-BEA6-4B102E547F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9D0411-7916-4395-80C4-9F639AD6288A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B97B11-2180-FCE7-03A9-6B52D40E65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667C36-F2C1-D834-8DE0-35604021CE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35361-F5DC-43D5-B6F6-BCBF8018D0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30681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3C4402-39DE-C9A1-901F-9CB57AB4A5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992359-EC6F-E0F7-B72D-2D2E65D64BE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960D5-0162-DB63-AF2A-6BA1B25F7F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EBFACC-4D46-0FBD-47F9-5F5A213512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9D0411-7916-4395-80C4-9F639AD6288A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F6C4D1-35C4-97CF-8146-9556F64326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700A54-21AF-30B1-7FF0-0A7547DBC9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35361-F5DC-43D5-B6F6-BCBF8018D0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02992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D9DC68-0AE9-D1BD-91C4-B0CEBC94E9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0C5623-8180-3F7F-1F06-C8644C299A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7F124D-8925-54FA-8CA7-CDB23C661B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3917047-32E4-5041-FECF-91B9EA60444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8B5ED2B-B255-BDAA-5F87-023ED6E3A0F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301C8DB-A06C-A72B-4483-DF321367D9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9D0411-7916-4395-80C4-9F639AD6288A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2D5EA19-7524-DD8E-39F9-9072502331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C55B30C-7D3C-4A5F-0495-B09F0A514D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35361-F5DC-43D5-B6F6-BCBF8018D0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07774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7F2AC8-E9B8-D7F1-EC42-55F52D707F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38D8EB2-332F-12CD-3F44-7E63D70ADE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9D0411-7916-4395-80C4-9F639AD6288A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1AB5EE9-D940-D0F5-F116-028D00B6AF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0ECBF52-003E-ACF1-DA41-F51009841E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35361-F5DC-43D5-B6F6-BCBF8018D0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42903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6C862EF-A2F0-263D-CCCC-275250C8BC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9D0411-7916-4395-80C4-9F639AD6288A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EEE537F-2931-1271-C4E2-8C9A2185DB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15DD43-0E21-1B8B-B52A-B53DF3E243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35361-F5DC-43D5-B6F6-BCBF8018D0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73932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C27936-5028-16C9-D803-CDFE0A27E1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1036EA-A519-F422-980F-785C1D7054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E87CFD-61E8-DA14-0D01-3BBFB9EA75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CD70A4-4545-9E05-3CD1-581DEE5A07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9D0411-7916-4395-80C4-9F639AD6288A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315CBE-C70E-233E-539F-43A2842229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DAE21B-4A1D-7C40-8FD5-D4F7830B1E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35361-F5DC-43D5-B6F6-BCBF8018D0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24378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EDCDF5-79FE-E91E-D5D7-A79B85CD2C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BEFB45E-6753-BD58-B121-7BC2E319021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CD404E5-DE1D-DFB8-20F2-0883B4E821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F5C4A3-AFD6-253B-9471-14A3EFAE67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9D0411-7916-4395-80C4-9F639AD6288A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95E9BA-59D8-6392-11C0-ED31C78287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B8D61B-DFE7-3EA0-CDAF-222E293F1E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35361-F5DC-43D5-B6F6-BCBF8018D0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83284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4E9C7F-197A-16D8-D56B-DA25212F95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B4A540-2083-BD26-1CFF-92B3CAA4F9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356DBE-4363-E945-DC0F-4EE763C3E6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9D0411-7916-4395-80C4-9F639AD6288A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71AF7D-6791-3619-D95F-D1096A0F38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2B5C41-EA6A-8AB3-692A-1E2EE7C266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35361-F5DC-43D5-B6F6-BCBF8018D0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34470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E816B64-44CA-E8E8-47FE-0438BAF07FB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305512D-39CD-8C1A-DEF7-C0517A8757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E11C46-A212-40B0-C902-9A97F402DC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9D0411-7916-4395-80C4-9F639AD6288A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1946A4-76BF-A9DA-2C9E-C6A0047ED4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7B4AA0-4610-0B09-962B-78DD5EFD8A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35361-F5DC-43D5-B6F6-BCBF8018D0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031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CDB75F0-DD1D-0018-499F-0A4F4992E0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22B5DE-E105-783A-1472-8F68F7909A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A7EECE-E66C-EE80-0606-95A35852259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F9D0411-7916-4395-80C4-9F639AD6288A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67BDBA-6707-FC06-A2CF-4D875E7F4B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46D701-3B47-ABE0-F994-44424DB39F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A335361-F5DC-43D5-B6F6-BCBF8018D0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37200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285592-D432-0B82-D5C0-A377A58230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767636"/>
            <a:ext cx="9302496" cy="2409308"/>
          </a:xfrm>
        </p:spPr>
        <p:txBody>
          <a:bodyPr>
            <a:noAutofit/>
          </a:bodyPr>
          <a:lstStyle/>
          <a:p>
            <a:br>
              <a:rPr lang="en-IN" sz="96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</a:br>
            <a:endParaRPr lang="en-IN" sz="9600" dirty="0">
              <a:solidFill>
                <a:srgbClr val="FF0000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840C62A-3C06-9534-E822-01282101D3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193138"/>
            <a:ext cx="9430512" cy="886407"/>
          </a:xfrm>
        </p:spPr>
        <p:txBody>
          <a:bodyPr>
            <a:normAutofit fontScale="92500" lnSpcReduction="10000"/>
          </a:bodyPr>
          <a:lstStyle/>
          <a:p>
            <a:r>
              <a:rPr lang="en-US" sz="3200" b="1" i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Task Management &amp; Helper Connecting Platform</a:t>
            </a:r>
            <a:endParaRPr lang="en-IN" sz="3200" b="1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/>
              <a:t>     </a:t>
            </a:r>
            <a:endParaRPr lang="en-IN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3D526F3-942E-8867-27CD-E038B316B2B1}"/>
              </a:ext>
            </a:extLst>
          </p:cNvPr>
          <p:cNvSpPr txBox="1"/>
          <p:nvPr/>
        </p:nvSpPr>
        <p:spPr>
          <a:xfrm>
            <a:off x="-1897393" y="6106097"/>
            <a:ext cx="387547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IN" b="1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Submission Date:</a:t>
            </a:r>
          </a:p>
          <a:p>
            <a:pPr algn="r"/>
            <a:r>
              <a:rPr lang="en-IN" b="1" dirty="0"/>
              <a:t>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17CA461-C2D4-D5E6-F075-C70FF293C1E2}"/>
              </a:ext>
            </a:extLst>
          </p:cNvPr>
          <p:cNvSpPr txBox="1"/>
          <p:nvPr/>
        </p:nvSpPr>
        <p:spPr>
          <a:xfrm>
            <a:off x="10107549" y="6098786"/>
            <a:ext cx="609447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Submitted By: </a:t>
            </a:r>
          </a:p>
          <a:p>
            <a:r>
              <a:rPr lang="en-IN" b="1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Batch-13</a:t>
            </a:r>
            <a:endParaRPr lang="en-IN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81E6497-AA12-A488-6D10-45354391686A}"/>
              </a:ext>
            </a:extLst>
          </p:cNvPr>
          <p:cNvSpPr txBox="1"/>
          <p:nvPr/>
        </p:nvSpPr>
        <p:spPr>
          <a:xfrm>
            <a:off x="0" y="6391462"/>
            <a:ext cx="19780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1</a:t>
            </a:r>
            <a:r>
              <a:rPr lang="en-IN" b="1" baseline="30000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st</a:t>
            </a:r>
            <a:r>
              <a:rPr lang="en-IN" b="1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 April 2026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0A6FFA-2616-3448-17C7-DA7BA4794F41}"/>
              </a:ext>
            </a:extLst>
          </p:cNvPr>
          <p:cNvSpPr/>
          <p:nvPr/>
        </p:nvSpPr>
        <p:spPr>
          <a:xfrm>
            <a:off x="2789170" y="1376660"/>
            <a:ext cx="6613670" cy="255454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IN" sz="8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Project Title:</a:t>
            </a:r>
          </a:p>
          <a:p>
            <a:pPr algn="ctr"/>
            <a:r>
              <a:rPr lang="en-IN" sz="80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“Hire Helper”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617C6F9-7BBF-42CF-2C49-1E414F82A282}"/>
              </a:ext>
            </a:extLst>
          </p:cNvPr>
          <p:cNvSpPr txBox="1"/>
          <p:nvPr/>
        </p:nvSpPr>
        <p:spPr>
          <a:xfrm>
            <a:off x="1524000" y="209550"/>
            <a:ext cx="1002639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5400" u="sng" dirty="0">
                <a:solidFill>
                  <a:srgbClr val="FFC000"/>
                </a:solidFill>
                <a:latin typeface="Arial Black" panose="020B0A04020102020204" pitchFamily="34" charset="0"/>
              </a:rPr>
              <a:t>INFOSYS SPRINGBOARD</a:t>
            </a:r>
          </a:p>
        </p:txBody>
      </p:sp>
    </p:spTree>
    <p:extLst>
      <p:ext uri="{BB962C8B-B14F-4D97-AF65-F5344CB8AC3E}">
        <p14:creationId xmlns:p14="http://schemas.microsoft.com/office/powerpoint/2010/main" val="30392176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8CACCC2-DE7D-AABE-646B-7E457C84D758}"/>
              </a:ext>
            </a:extLst>
          </p:cNvPr>
          <p:cNvSpPr txBox="1"/>
          <p:nvPr/>
        </p:nvSpPr>
        <p:spPr>
          <a:xfrm>
            <a:off x="585216" y="1441704"/>
            <a:ext cx="1093622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2000" b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Hire Helper is a task management platform where users can post tasks and others can request to help. The system includes task management, request handling, notifications, and profile settings.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B2875C4-706B-D5B3-102B-A17425E0BAE9}"/>
              </a:ext>
            </a:extLst>
          </p:cNvPr>
          <p:cNvSpPr txBox="1"/>
          <p:nvPr/>
        </p:nvSpPr>
        <p:spPr>
          <a:xfrm>
            <a:off x="585216" y="2185035"/>
            <a:ext cx="10469880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000" b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platform allows users to:</a:t>
            </a:r>
            <a:br>
              <a:rPr lang="en-US" dirty="0">
                <a:solidFill>
                  <a:schemeClr val="bg2"/>
                </a:solidFill>
              </a:rPr>
            </a:br>
            <a:r>
              <a:rPr lang="en-US" dirty="0">
                <a:solidFill>
                  <a:srgbClr val="FFFF00"/>
                </a:solidFill>
              </a:rPr>
              <a:t>• Post tasks with required details such as location, time, and description.</a:t>
            </a:r>
            <a:br>
              <a:rPr lang="en-US" dirty="0">
                <a:solidFill>
                  <a:srgbClr val="FFFF00"/>
                </a:solidFill>
              </a:rPr>
            </a:br>
            <a:r>
              <a:rPr lang="en-US" dirty="0">
                <a:solidFill>
                  <a:srgbClr val="FFFF00"/>
                </a:solidFill>
              </a:rPr>
              <a:t>• Browse available tasks posted by others.</a:t>
            </a:r>
            <a:br>
              <a:rPr lang="en-US" dirty="0">
                <a:solidFill>
                  <a:srgbClr val="FFFF00"/>
                </a:solidFill>
              </a:rPr>
            </a:br>
            <a:r>
              <a:rPr lang="en-US" dirty="0">
                <a:solidFill>
                  <a:srgbClr val="FFFF00"/>
                </a:solidFill>
              </a:rPr>
              <a:t>• Send and receive task requests.</a:t>
            </a:r>
            <a:br>
              <a:rPr lang="en-US" dirty="0">
                <a:solidFill>
                  <a:srgbClr val="FFFF00"/>
                </a:solidFill>
              </a:rPr>
            </a:br>
            <a:r>
              <a:rPr lang="en-US" dirty="0">
                <a:solidFill>
                  <a:srgbClr val="FFFF00"/>
                </a:solidFill>
              </a:rPr>
              <a:t>• Accept or reject requests.</a:t>
            </a:r>
            <a:br>
              <a:rPr lang="en-US" dirty="0">
                <a:solidFill>
                  <a:srgbClr val="FFFF00"/>
                </a:solidFill>
              </a:rPr>
            </a:br>
            <a:r>
              <a:rPr lang="en-US" dirty="0">
                <a:solidFill>
                  <a:srgbClr val="FFFF00"/>
                </a:solidFill>
              </a:rPr>
              <a:t>• Receive real-time notifications.</a:t>
            </a:r>
            <a:br>
              <a:rPr lang="en-US" dirty="0">
                <a:solidFill>
                  <a:srgbClr val="FFFF00"/>
                </a:solidFill>
              </a:rPr>
            </a:br>
            <a:r>
              <a:rPr lang="en-US" dirty="0">
                <a:solidFill>
                  <a:srgbClr val="FFFF00"/>
                </a:solidFill>
              </a:rPr>
              <a:t>• Manage personal profile and settings.</a:t>
            </a:r>
          </a:p>
          <a:p>
            <a:endParaRPr lang="en-US" sz="2000" dirty="0"/>
          </a:p>
          <a:p>
            <a:r>
              <a:rPr lang="en-US" sz="2000" dirty="0">
                <a:solidFill>
                  <a:schemeClr val="bg2"/>
                </a:solidFill>
              </a:rPr>
              <a:t>The system ensures smooth communication between task owners and helpers, making task management simple, efficient, and user-friendly.</a:t>
            </a:r>
          </a:p>
          <a:p>
            <a:endParaRPr lang="en-IN" dirty="0"/>
          </a:p>
        </p:txBody>
      </p:sp>
      <p:sp>
        <p:nvSpPr>
          <p:cNvPr id="5" name="Rectangle: Diagonal Corners Rounded 4">
            <a:extLst>
              <a:ext uri="{FF2B5EF4-FFF2-40B4-BE49-F238E27FC236}">
                <a16:creationId xmlns:a16="http://schemas.microsoft.com/office/drawing/2014/main" id="{D974AE6D-133A-1A2D-C2AA-689040BB7E60}"/>
              </a:ext>
            </a:extLst>
          </p:cNvPr>
          <p:cNvSpPr/>
          <p:nvPr/>
        </p:nvSpPr>
        <p:spPr>
          <a:xfrm>
            <a:off x="585216" y="657481"/>
            <a:ext cx="3443859" cy="504569"/>
          </a:xfrm>
          <a:prstGeom prst="round2Diag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7163445-E2D5-ECCB-9B3A-283DB7FC41E9}"/>
              </a:ext>
            </a:extLst>
          </p:cNvPr>
          <p:cNvSpPr txBox="1"/>
          <p:nvPr/>
        </p:nvSpPr>
        <p:spPr>
          <a:xfrm>
            <a:off x="685800" y="647700"/>
            <a:ext cx="31432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solidFill>
                  <a:srgbClr val="FF0000"/>
                </a:solidFill>
              </a:rPr>
              <a:t>Project Overview:</a:t>
            </a:r>
          </a:p>
        </p:txBody>
      </p:sp>
    </p:spTree>
    <p:extLst>
      <p:ext uri="{BB962C8B-B14F-4D97-AF65-F5344CB8AC3E}">
        <p14:creationId xmlns:p14="http://schemas.microsoft.com/office/powerpoint/2010/main" val="24783137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AFFABDB8-E494-7761-1044-577B325DB08B}"/>
              </a:ext>
            </a:extLst>
          </p:cNvPr>
          <p:cNvSpPr txBox="1"/>
          <p:nvPr/>
        </p:nvSpPr>
        <p:spPr>
          <a:xfrm>
            <a:off x="420624" y="1353312"/>
            <a:ext cx="10168128" cy="28090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400" dirty="0">
                <a:solidFill>
                  <a:srgbClr val="FFFF00"/>
                </a:solidFill>
              </a:rPr>
              <a:t>To develop a platform that connects task owners with helpers efficiently.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400" dirty="0">
                <a:solidFill>
                  <a:srgbClr val="FFFF00"/>
                </a:solidFill>
              </a:rPr>
              <a:t>To simplify task posting and management for users.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400" dirty="0">
                <a:solidFill>
                  <a:srgbClr val="FFFF00"/>
                </a:solidFill>
              </a:rPr>
              <a:t> To enable users to send and manage task requests easily.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400" dirty="0">
                <a:solidFill>
                  <a:srgbClr val="FFFF00"/>
                </a:solidFill>
              </a:rPr>
              <a:t> To provide real-time notifications for better communication.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400" dirty="0">
                <a:solidFill>
                  <a:srgbClr val="FFFF00"/>
                </a:solidFill>
              </a:rPr>
              <a:t>To ensure a user-friendly and responsive interface.</a:t>
            </a:r>
          </a:p>
        </p:txBody>
      </p:sp>
      <p:sp>
        <p:nvSpPr>
          <p:cNvPr id="2" name="Rectangle: Diagonal Corners Rounded 1">
            <a:extLst>
              <a:ext uri="{FF2B5EF4-FFF2-40B4-BE49-F238E27FC236}">
                <a16:creationId xmlns:a16="http://schemas.microsoft.com/office/drawing/2014/main" id="{1CF7FD0D-34B4-08F2-38F1-2B285F2E8BB0}"/>
              </a:ext>
            </a:extLst>
          </p:cNvPr>
          <p:cNvSpPr/>
          <p:nvPr/>
        </p:nvSpPr>
        <p:spPr>
          <a:xfrm>
            <a:off x="585216" y="657481"/>
            <a:ext cx="3443859" cy="504569"/>
          </a:xfrm>
          <a:prstGeom prst="round2Diag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2664926-2C9E-F457-187F-E55A2A72B1D8}"/>
              </a:ext>
            </a:extLst>
          </p:cNvPr>
          <p:cNvSpPr txBox="1"/>
          <p:nvPr/>
        </p:nvSpPr>
        <p:spPr>
          <a:xfrm>
            <a:off x="685800" y="666750"/>
            <a:ext cx="29622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solidFill>
                  <a:srgbClr val="FF0000"/>
                </a:solidFill>
              </a:rPr>
              <a:t>Objectives:</a:t>
            </a:r>
          </a:p>
        </p:txBody>
      </p:sp>
      <p:sp>
        <p:nvSpPr>
          <p:cNvPr id="7" name="Rectangle: Diagonal Corners Rounded 6">
            <a:extLst>
              <a:ext uri="{FF2B5EF4-FFF2-40B4-BE49-F238E27FC236}">
                <a16:creationId xmlns:a16="http://schemas.microsoft.com/office/drawing/2014/main" id="{48AEED29-AF7E-0B5F-EC56-9C62AB468D6C}"/>
              </a:ext>
            </a:extLst>
          </p:cNvPr>
          <p:cNvSpPr/>
          <p:nvPr/>
        </p:nvSpPr>
        <p:spPr>
          <a:xfrm>
            <a:off x="585216" y="4476625"/>
            <a:ext cx="3443859" cy="504569"/>
          </a:xfrm>
          <a:prstGeom prst="round2Diag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7915E1C-D6EE-C221-683C-5160837DEC32}"/>
              </a:ext>
            </a:extLst>
          </p:cNvPr>
          <p:cNvSpPr txBox="1"/>
          <p:nvPr/>
        </p:nvSpPr>
        <p:spPr>
          <a:xfrm>
            <a:off x="685800" y="4535424"/>
            <a:ext cx="315468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rgbClr val="FF0000"/>
                </a:solidFill>
              </a:rPr>
              <a:t>Technologies Used:</a:t>
            </a:r>
          </a:p>
          <a:p>
            <a:endParaRPr lang="en-IN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C91D61D7-FA6D-89A2-2101-470BA4FB27D8}"/>
              </a:ext>
            </a:extLst>
          </p:cNvPr>
          <p:cNvSpPr/>
          <p:nvPr/>
        </p:nvSpPr>
        <p:spPr>
          <a:xfrm>
            <a:off x="371475" y="5429250"/>
            <a:ext cx="2105025" cy="990600"/>
          </a:xfrm>
          <a:prstGeom prst="roundRect">
            <a:avLst/>
          </a:prstGeom>
          <a:solidFill>
            <a:srgbClr val="00B0F0"/>
          </a:solidFill>
          <a:ln>
            <a:solidFill>
              <a:schemeClr val="tx2">
                <a:lumMod val="10000"/>
                <a:lumOff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32A2F6A-AFC1-9B97-8A54-197F74E94E52}"/>
              </a:ext>
            </a:extLst>
          </p:cNvPr>
          <p:cNvSpPr txBox="1"/>
          <p:nvPr/>
        </p:nvSpPr>
        <p:spPr>
          <a:xfrm>
            <a:off x="493776" y="5449824"/>
            <a:ext cx="198272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rgbClr val="FFFF00"/>
                </a:solidFill>
              </a:rPr>
              <a:t>HTML, CSS, JS,React JS (Frontend)</a:t>
            </a:r>
          </a:p>
          <a:p>
            <a:endParaRPr lang="en-IN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AF482312-BF36-5F18-3470-F610668E25C7}"/>
              </a:ext>
            </a:extLst>
          </p:cNvPr>
          <p:cNvSpPr/>
          <p:nvPr/>
        </p:nvSpPr>
        <p:spPr>
          <a:xfrm>
            <a:off x="2976562" y="5429250"/>
            <a:ext cx="2105025" cy="990600"/>
          </a:xfrm>
          <a:prstGeom prst="roundRect">
            <a:avLst/>
          </a:prstGeom>
          <a:solidFill>
            <a:srgbClr val="00B0F0"/>
          </a:solidFill>
          <a:ln>
            <a:solidFill>
              <a:schemeClr val="tx2">
                <a:lumMod val="10000"/>
                <a:lumOff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7A57C70E-9FE3-400A-6BEC-C1651F1C6E5E}"/>
              </a:ext>
            </a:extLst>
          </p:cNvPr>
          <p:cNvSpPr/>
          <p:nvPr/>
        </p:nvSpPr>
        <p:spPr>
          <a:xfrm>
            <a:off x="5676138" y="5428274"/>
            <a:ext cx="2105025" cy="990600"/>
          </a:xfrm>
          <a:prstGeom prst="roundRect">
            <a:avLst/>
          </a:prstGeom>
          <a:solidFill>
            <a:srgbClr val="00B0F0"/>
          </a:solidFill>
          <a:ln>
            <a:solidFill>
              <a:schemeClr val="tx2">
                <a:lumMod val="10000"/>
                <a:lumOff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Wingdings" panose="05000000000000000000" pitchFamily="2" charset="2"/>
              <a:buChar char="Ø"/>
            </a:pPr>
            <a:endParaRPr lang="en-IN" b="1" dirty="0">
              <a:solidFill>
                <a:srgbClr val="FFFF00"/>
              </a:solidFill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6B13EA15-85D0-3A44-2857-37FF36614F33}"/>
              </a:ext>
            </a:extLst>
          </p:cNvPr>
          <p:cNvSpPr/>
          <p:nvPr/>
        </p:nvSpPr>
        <p:spPr>
          <a:xfrm>
            <a:off x="8446770" y="5429250"/>
            <a:ext cx="2105025" cy="990600"/>
          </a:xfrm>
          <a:prstGeom prst="roundRect">
            <a:avLst/>
          </a:prstGeom>
          <a:solidFill>
            <a:srgbClr val="00B0F0"/>
          </a:solidFill>
          <a:ln>
            <a:solidFill>
              <a:schemeClr val="tx2">
                <a:lumMod val="10000"/>
                <a:lumOff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9F8A96E-F040-74F8-B1E8-2EAAF32EFCA3}"/>
              </a:ext>
            </a:extLst>
          </p:cNvPr>
          <p:cNvSpPr txBox="1"/>
          <p:nvPr/>
        </p:nvSpPr>
        <p:spPr>
          <a:xfrm>
            <a:off x="3044952" y="5495544"/>
            <a:ext cx="221284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b="1" dirty="0">
                <a:solidFill>
                  <a:srgbClr val="FFFF00"/>
                </a:solidFill>
              </a:rPr>
              <a:t>Figma (UI Design)</a:t>
            </a:r>
          </a:p>
          <a:p>
            <a:endParaRPr lang="en-IN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12EF3DB-8A4E-EA51-7BB9-71D93AC06C57}"/>
              </a:ext>
            </a:extLst>
          </p:cNvPr>
          <p:cNvSpPr txBox="1"/>
          <p:nvPr/>
        </p:nvSpPr>
        <p:spPr>
          <a:xfrm>
            <a:off x="5742432" y="5468112"/>
            <a:ext cx="176479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b="1" dirty="0">
                <a:solidFill>
                  <a:srgbClr val="FFFF00"/>
                </a:solidFill>
              </a:rPr>
              <a:t>Node.js (Backend)</a:t>
            </a:r>
          </a:p>
          <a:p>
            <a:endParaRPr lang="en-IN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75A8709-737D-4821-8FF3-4BF8723F1660}"/>
              </a:ext>
            </a:extLst>
          </p:cNvPr>
          <p:cNvSpPr txBox="1"/>
          <p:nvPr/>
        </p:nvSpPr>
        <p:spPr>
          <a:xfrm>
            <a:off x="8449056" y="5440680"/>
            <a:ext cx="235934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b="1" dirty="0">
                <a:solidFill>
                  <a:srgbClr val="FFFF00"/>
                </a:solidFill>
              </a:rPr>
              <a:t>Git and Github(Code Repository)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133794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3C014FC-8E24-74F6-7601-B2CDE53142B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963" y="1312163"/>
            <a:ext cx="2695877" cy="326440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9A4C392-716E-E78F-87DF-6FA1F161987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06157" y="1312163"/>
            <a:ext cx="2763119" cy="326440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2646F69-1621-B7B9-B5EC-966C10EE782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30767" y="1312163"/>
            <a:ext cx="2942207" cy="3264409"/>
          </a:xfrm>
          <a:prstGeom prst="rect">
            <a:avLst/>
          </a:prstGeom>
        </p:spPr>
      </p:pic>
      <p:sp>
        <p:nvSpPr>
          <p:cNvPr id="10" name="Arrow: Right 9">
            <a:extLst>
              <a:ext uri="{FF2B5EF4-FFF2-40B4-BE49-F238E27FC236}">
                <a16:creationId xmlns:a16="http://schemas.microsoft.com/office/drawing/2014/main" id="{9C19A2F4-DFE0-1242-D433-7D9AE4F239AE}"/>
              </a:ext>
            </a:extLst>
          </p:cNvPr>
          <p:cNvSpPr/>
          <p:nvPr/>
        </p:nvSpPr>
        <p:spPr>
          <a:xfrm>
            <a:off x="3486833" y="2816352"/>
            <a:ext cx="1009596" cy="612648"/>
          </a:xfrm>
          <a:prstGeom prst="rightArrow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4062B96C-2BD2-53AA-709D-0FFDFB1CB63E}"/>
              </a:ext>
            </a:extLst>
          </p:cNvPr>
          <p:cNvSpPr/>
          <p:nvPr/>
        </p:nvSpPr>
        <p:spPr>
          <a:xfrm>
            <a:off x="7438645" y="2816352"/>
            <a:ext cx="996694" cy="612648"/>
          </a:xfrm>
          <a:prstGeom prst="rightArrow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Arrow: Chevron 12">
            <a:extLst>
              <a:ext uri="{FF2B5EF4-FFF2-40B4-BE49-F238E27FC236}">
                <a16:creationId xmlns:a16="http://schemas.microsoft.com/office/drawing/2014/main" id="{79046918-B7F9-4FF8-B20D-28E2FA62E7B7}"/>
              </a:ext>
            </a:extLst>
          </p:cNvPr>
          <p:cNvSpPr/>
          <p:nvPr/>
        </p:nvSpPr>
        <p:spPr>
          <a:xfrm>
            <a:off x="448056" y="5030307"/>
            <a:ext cx="4962143" cy="313218"/>
          </a:xfrm>
          <a:prstGeom prst="chevron">
            <a:avLst/>
          </a:prstGeom>
          <a:solidFill>
            <a:schemeClr val="accent5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229571E-79E7-4810-BD1B-3F5901E842A6}"/>
              </a:ext>
            </a:extLst>
          </p:cNvPr>
          <p:cNvSpPr txBox="1"/>
          <p:nvPr/>
        </p:nvSpPr>
        <p:spPr>
          <a:xfrm>
            <a:off x="542925" y="5000625"/>
            <a:ext cx="46958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1.Secure user registration and login system.</a:t>
            </a:r>
          </a:p>
          <a:p>
            <a:endParaRPr lang="en-IN" dirty="0"/>
          </a:p>
        </p:txBody>
      </p:sp>
      <p:sp>
        <p:nvSpPr>
          <p:cNvPr id="15" name="Arrow: Chevron 14">
            <a:extLst>
              <a:ext uri="{FF2B5EF4-FFF2-40B4-BE49-F238E27FC236}">
                <a16:creationId xmlns:a16="http://schemas.microsoft.com/office/drawing/2014/main" id="{D16A0F71-E903-210A-E4AE-5F8B6EB9A764}"/>
              </a:ext>
            </a:extLst>
          </p:cNvPr>
          <p:cNvSpPr/>
          <p:nvPr/>
        </p:nvSpPr>
        <p:spPr>
          <a:xfrm>
            <a:off x="448056" y="5448300"/>
            <a:ext cx="4962143" cy="313218"/>
          </a:xfrm>
          <a:prstGeom prst="chevron">
            <a:avLst/>
          </a:prstGeom>
          <a:solidFill>
            <a:schemeClr val="accent5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95ECCEF-AEEA-EB8A-6269-BF7952D467C4}"/>
              </a:ext>
            </a:extLst>
          </p:cNvPr>
          <p:cNvSpPr txBox="1"/>
          <p:nvPr/>
        </p:nvSpPr>
        <p:spPr>
          <a:xfrm>
            <a:off x="476249" y="5427881"/>
            <a:ext cx="46958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  2.OTP-based authentication for verification.</a:t>
            </a:r>
          </a:p>
          <a:p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17" name="Arrow: Chevron 16">
            <a:extLst>
              <a:ext uri="{FF2B5EF4-FFF2-40B4-BE49-F238E27FC236}">
                <a16:creationId xmlns:a16="http://schemas.microsoft.com/office/drawing/2014/main" id="{309C06BB-022F-D33A-362E-3091056D8DED}"/>
              </a:ext>
            </a:extLst>
          </p:cNvPr>
          <p:cNvSpPr/>
          <p:nvPr/>
        </p:nvSpPr>
        <p:spPr>
          <a:xfrm>
            <a:off x="448055" y="5905500"/>
            <a:ext cx="5190745" cy="309956"/>
          </a:xfrm>
          <a:prstGeom prst="chevron">
            <a:avLst/>
          </a:prstGeom>
          <a:solidFill>
            <a:schemeClr val="accent5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3036ED3-E55F-2166-334C-23AAA31CF3E0}"/>
              </a:ext>
            </a:extLst>
          </p:cNvPr>
          <p:cNvSpPr txBox="1"/>
          <p:nvPr/>
        </p:nvSpPr>
        <p:spPr>
          <a:xfrm>
            <a:off x="600075" y="5902762"/>
            <a:ext cx="49621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3.</a:t>
            </a:r>
            <a:r>
              <a:rPr lang="en-US" dirty="0">
                <a:solidFill>
                  <a:schemeClr val="bg1"/>
                </a:solidFill>
              </a:rPr>
              <a:t> Interactive dashboard with sidebar navigation.</a:t>
            </a:r>
          </a:p>
          <a:p>
            <a:endParaRPr lang="en-IN" dirty="0"/>
          </a:p>
        </p:txBody>
      </p:sp>
      <p:sp>
        <p:nvSpPr>
          <p:cNvPr id="19" name="Rectangle: Diagonal Corners Rounded 18">
            <a:extLst>
              <a:ext uri="{FF2B5EF4-FFF2-40B4-BE49-F238E27FC236}">
                <a16:creationId xmlns:a16="http://schemas.microsoft.com/office/drawing/2014/main" id="{4D9B3605-81F1-7A23-D6DD-5757898B3741}"/>
              </a:ext>
            </a:extLst>
          </p:cNvPr>
          <p:cNvSpPr/>
          <p:nvPr/>
        </p:nvSpPr>
        <p:spPr>
          <a:xfrm>
            <a:off x="4314825" y="428881"/>
            <a:ext cx="4410076" cy="504569"/>
          </a:xfrm>
          <a:prstGeom prst="round2Diag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404474C-D70C-8335-DE6B-288151B2D605}"/>
              </a:ext>
            </a:extLst>
          </p:cNvPr>
          <p:cNvSpPr txBox="1"/>
          <p:nvPr/>
        </p:nvSpPr>
        <p:spPr>
          <a:xfrm>
            <a:off x="4314824" y="489620"/>
            <a:ext cx="51149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b="1" dirty="0">
                <a:solidFill>
                  <a:srgbClr val="7030A0"/>
                </a:solidFill>
              </a:rPr>
              <a:t>Authentication and Dashboard Setup: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402785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rrow: Right 3">
            <a:extLst>
              <a:ext uri="{FF2B5EF4-FFF2-40B4-BE49-F238E27FC236}">
                <a16:creationId xmlns:a16="http://schemas.microsoft.com/office/drawing/2014/main" id="{F869976F-C6C4-67B0-72B6-2A708D07F5A5}"/>
              </a:ext>
            </a:extLst>
          </p:cNvPr>
          <p:cNvSpPr/>
          <p:nvPr/>
        </p:nvSpPr>
        <p:spPr>
          <a:xfrm>
            <a:off x="6373283" y="2699359"/>
            <a:ext cx="941070" cy="666750"/>
          </a:xfrm>
          <a:prstGeom prst="rightArrow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E03AA0B-D1E5-7A0F-6F61-8690CAEC16E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1208" y="1169325"/>
            <a:ext cx="5496044" cy="3307425"/>
          </a:xfrm>
          <a:prstGeom prst="rect">
            <a:avLst/>
          </a:prstGeom>
          <a:ln>
            <a:solidFill>
              <a:schemeClr val="accent2"/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EE15B36-3C88-EAAE-379B-CD346E92D6C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16018" y="1169325"/>
            <a:ext cx="3649336" cy="3307425"/>
          </a:xfrm>
          <a:prstGeom prst="rect">
            <a:avLst/>
          </a:prstGeom>
          <a:ln>
            <a:solidFill>
              <a:schemeClr val="accent2"/>
            </a:solidFill>
          </a:ln>
        </p:spPr>
      </p:pic>
      <p:sp>
        <p:nvSpPr>
          <p:cNvPr id="12" name="Arrow: Chevron 11">
            <a:extLst>
              <a:ext uri="{FF2B5EF4-FFF2-40B4-BE49-F238E27FC236}">
                <a16:creationId xmlns:a16="http://schemas.microsoft.com/office/drawing/2014/main" id="{6544F69C-69EF-317C-C65F-DA22778E41FB}"/>
              </a:ext>
            </a:extLst>
          </p:cNvPr>
          <p:cNvSpPr/>
          <p:nvPr/>
        </p:nvSpPr>
        <p:spPr>
          <a:xfrm>
            <a:off x="448056" y="5030307"/>
            <a:ext cx="5496044" cy="313218"/>
          </a:xfrm>
          <a:prstGeom prst="chevron">
            <a:avLst/>
          </a:prstGeom>
          <a:solidFill>
            <a:schemeClr val="accent5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13" name="Arrow: Chevron 12">
            <a:extLst>
              <a:ext uri="{FF2B5EF4-FFF2-40B4-BE49-F238E27FC236}">
                <a16:creationId xmlns:a16="http://schemas.microsoft.com/office/drawing/2014/main" id="{DB278120-159B-861B-2F34-A21D0B7A60E8}"/>
              </a:ext>
            </a:extLst>
          </p:cNvPr>
          <p:cNvSpPr/>
          <p:nvPr/>
        </p:nvSpPr>
        <p:spPr>
          <a:xfrm>
            <a:off x="448056" y="5532066"/>
            <a:ext cx="5496044" cy="313218"/>
          </a:xfrm>
          <a:prstGeom prst="chevron">
            <a:avLst/>
          </a:prstGeom>
          <a:solidFill>
            <a:schemeClr val="accent5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14" name="Arrow: Chevron 13">
            <a:extLst>
              <a:ext uri="{FF2B5EF4-FFF2-40B4-BE49-F238E27FC236}">
                <a16:creationId xmlns:a16="http://schemas.microsoft.com/office/drawing/2014/main" id="{F8197D6B-D9FA-4243-62DA-566272A06A00}"/>
              </a:ext>
            </a:extLst>
          </p:cNvPr>
          <p:cNvSpPr/>
          <p:nvPr/>
        </p:nvSpPr>
        <p:spPr>
          <a:xfrm>
            <a:off x="448055" y="6033825"/>
            <a:ext cx="5496045" cy="313218"/>
          </a:xfrm>
          <a:prstGeom prst="chevron">
            <a:avLst/>
          </a:prstGeom>
          <a:solidFill>
            <a:schemeClr val="accent5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631A436-BD16-FC28-E139-663B691C8BA2}"/>
              </a:ext>
            </a:extLst>
          </p:cNvPr>
          <p:cNvSpPr txBox="1"/>
          <p:nvPr/>
        </p:nvSpPr>
        <p:spPr>
          <a:xfrm>
            <a:off x="597396" y="5030307"/>
            <a:ext cx="51366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1.</a:t>
            </a:r>
            <a:r>
              <a:rPr lang="en-US" dirty="0">
                <a:solidFill>
                  <a:schemeClr val="bg1"/>
                </a:solidFill>
              </a:rPr>
              <a:t> Users can create task with detailed information.</a:t>
            </a:r>
          </a:p>
          <a:p>
            <a:endParaRPr lang="en-IN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4086F3A-8E87-9168-1A19-66F7BC403346}"/>
              </a:ext>
            </a:extLst>
          </p:cNvPr>
          <p:cNvSpPr txBox="1"/>
          <p:nvPr/>
        </p:nvSpPr>
        <p:spPr>
          <a:xfrm>
            <a:off x="600075" y="5523815"/>
            <a:ext cx="45815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2.Task listing and browsing functionality.</a:t>
            </a:r>
          </a:p>
          <a:p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508E20F-66A4-3CFF-6DA7-0DE3D91D3A35}"/>
              </a:ext>
            </a:extLst>
          </p:cNvPr>
          <p:cNvSpPr txBox="1"/>
          <p:nvPr/>
        </p:nvSpPr>
        <p:spPr>
          <a:xfrm>
            <a:off x="609600" y="6017746"/>
            <a:ext cx="52773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3.</a:t>
            </a:r>
            <a:r>
              <a:rPr lang="en-US" dirty="0">
                <a:solidFill>
                  <a:schemeClr val="bg1"/>
                </a:solidFill>
              </a:rPr>
              <a:t> Simple and efficient task management system.</a:t>
            </a:r>
          </a:p>
          <a:p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19" name="Rectangle: Diagonal Corners Rounded 18">
            <a:extLst>
              <a:ext uri="{FF2B5EF4-FFF2-40B4-BE49-F238E27FC236}">
                <a16:creationId xmlns:a16="http://schemas.microsoft.com/office/drawing/2014/main" id="{2D2EF42F-8BD9-CA01-D721-543C0E04F682}"/>
              </a:ext>
            </a:extLst>
          </p:cNvPr>
          <p:cNvSpPr/>
          <p:nvPr/>
        </p:nvSpPr>
        <p:spPr>
          <a:xfrm>
            <a:off x="4533900" y="347722"/>
            <a:ext cx="2876552" cy="504569"/>
          </a:xfrm>
          <a:prstGeom prst="round2Diag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386E23B-C61C-AA4A-5DDA-F19C709E88FB}"/>
              </a:ext>
            </a:extLst>
          </p:cNvPr>
          <p:cNvSpPr txBox="1"/>
          <p:nvPr/>
        </p:nvSpPr>
        <p:spPr>
          <a:xfrm>
            <a:off x="4533900" y="428625"/>
            <a:ext cx="4114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b="1" dirty="0">
                <a:solidFill>
                  <a:srgbClr val="7030A0"/>
                </a:solidFill>
              </a:rPr>
              <a:t>Task Management: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844856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5579DFC3-A461-D94A-98C0-DA34EB5E4DB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20347" y="1220343"/>
            <a:ext cx="3383280" cy="346557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9BB2F3F-8422-F97C-BD18-B5B9C92496E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184" y="1224915"/>
            <a:ext cx="3803904" cy="346557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96B4A95-448C-C483-EEAF-6E669EB9363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4521" y="1220343"/>
            <a:ext cx="3564393" cy="3465576"/>
          </a:xfrm>
          <a:prstGeom prst="rect">
            <a:avLst/>
          </a:prstGeom>
        </p:spPr>
      </p:pic>
      <p:sp>
        <p:nvSpPr>
          <p:cNvPr id="12" name="Arrow: Chevron 11">
            <a:extLst>
              <a:ext uri="{FF2B5EF4-FFF2-40B4-BE49-F238E27FC236}">
                <a16:creationId xmlns:a16="http://schemas.microsoft.com/office/drawing/2014/main" id="{078CCAF8-9567-BA4E-C394-8FA473680E9A}"/>
              </a:ext>
            </a:extLst>
          </p:cNvPr>
          <p:cNvSpPr/>
          <p:nvPr/>
        </p:nvSpPr>
        <p:spPr>
          <a:xfrm>
            <a:off x="329184" y="5476476"/>
            <a:ext cx="5766816" cy="313218"/>
          </a:xfrm>
          <a:prstGeom prst="chevron">
            <a:avLst/>
          </a:prstGeom>
          <a:solidFill>
            <a:schemeClr val="accent5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13" name="Arrow: Chevron 12">
            <a:extLst>
              <a:ext uri="{FF2B5EF4-FFF2-40B4-BE49-F238E27FC236}">
                <a16:creationId xmlns:a16="http://schemas.microsoft.com/office/drawing/2014/main" id="{CB976DA0-39F0-6565-E781-3CD772267A90}"/>
              </a:ext>
            </a:extLst>
          </p:cNvPr>
          <p:cNvSpPr/>
          <p:nvPr/>
        </p:nvSpPr>
        <p:spPr>
          <a:xfrm>
            <a:off x="329184" y="5957727"/>
            <a:ext cx="5766816" cy="313218"/>
          </a:xfrm>
          <a:prstGeom prst="chevron">
            <a:avLst/>
          </a:prstGeom>
          <a:solidFill>
            <a:schemeClr val="accent5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14" name="Arrow: Chevron 13">
            <a:extLst>
              <a:ext uri="{FF2B5EF4-FFF2-40B4-BE49-F238E27FC236}">
                <a16:creationId xmlns:a16="http://schemas.microsoft.com/office/drawing/2014/main" id="{9911805B-C836-C9AF-C2FF-60A51F46FFE6}"/>
              </a:ext>
            </a:extLst>
          </p:cNvPr>
          <p:cNvSpPr/>
          <p:nvPr/>
        </p:nvSpPr>
        <p:spPr>
          <a:xfrm>
            <a:off x="329184" y="6443264"/>
            <a:ext cx="5766816" cy="313218"/>
          </a:xfrm>
          <a:prstGeom prst="chevron">
            <a:avLst/>
          </a:prstGeom>
          <a:solidFill>
            <a:schemeClr val="accent5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16" name="Arrow: Chevron 15">
            <a:extLst>
              <a:ext uri="{FF2B5EF4-FFF2-40B4-BE49-F238E27FC236}">
                <a16:creationId xmlns:a16="http://schemas.microsoft.com/office/drawing/2014/main" id="{3FCB6BCA-1B53-11F2-3F61-39290EE2C5D6}"/>
              </a:ext>
            </a:extLst>
          </p:cNvPr>
          <p:cNvSpPr/>
          <p:nvPr/>
        </p:nvSpPr>
        <p:spPr>
          <a:xfrm>
            <a:off x="329184" y="4990939"/>
            <a:ext cx="5766816" cy="313218"/>
          </a:xfrm>
          <a:prstGeom prst="chevron">
            <a:avLst/>
          </a:prstGeom>
          <a:solidFill>
            <a:schemeClr val="accent5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2AE909E-E387-0D14-BB6A-0179CFDE55E6}"/>
              </a:ext>
            </a:extLst>
          </p:cNvPr>
          <p:cNvSpPr txBox="1"/>
          <p:nvPr/>
        </p:nvSpPr>
        <p:spPr>
          <a:xfrm>
            <a:off x="476250" y="4972050"/>
            <a:ext cx="51244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1.</a:t>
            </a:r>
            <a:r>
              <a:rPr lang="en-US" dirty="0">
                <a:solidFill>
                  <a:schemeClr val="bg1"/>
                </a:solidFill>
              </a:rPr>
              <a:t> Users can send requests for available tasks.</a:t>
            </a:r>
          </a:p>
          <a:p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45B5459-B01B-BE11-01BA-C0B0ED1EF65D}"/>
              </a:ext>
            </a:extLst>
          </p:cNvPr>
          <p:cNvSpPr txBox="1"/>
          <p:nvPr/>
        </p:nvSpPr>
        <p:spPr>
          <a:xfrm>
            <a:off x="476250" y="5457825"/>
            <a:ext cx="51244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2.</a:t>
            </a:r>
            <a:r>
              <a:rPr lang="en-US" dirty="0">
                <a:solidFill>
                  <a:schemeClr val="bg1"/>
                </a:solidFill>
              </a:rPr>
              <a:t> Task owners can accept or reject requests.</a:t>
            </a:r>
          </a:p>
          <a:p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4E1F2DC-173E-580A-F9B2-217E5BA737B4}"/>
              </a:ext>
            </a:extLst>
          </p:cNvPr>
          <p:cNvSpPr txBox="1"/>
          <p:nvPr/>
        </p:nvSpPr>
        <p:spPr>
          <a:xfrm>
            <a:off x="476250" y="5932706"/>
            <a:ext cx="58905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3.</a:t>
            </a:r>
            <a:r>
              <a:rPr lang="en-US" dirty="0">
                <a:solidFill>
                  <a:schemeClr val="bg1"/>
                </a:solidFill>
              </a:rPr>
              <a:t> “My Requests” and “Requests” management system.</a:t>
            </a:r>
          </a:p>
          <a:p>
            <a:endParaRPr lang="en-IN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712A776-BF90-C4D4-AE54-56BAB12DD565}"/>
              </a:ext>
            </a:extLst>
          </p:cNvPr>
          <p:cNvSpPr txBox="1"/>
          <p:nvPr/>
        </p:nvSpPr>
        <p:spPr>
          <a:xfrm>
            <a:off x="495300" y="6417112"/>
            <a:ext cx="50482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4.</a:t>
            </a:r>
            <a:r>
              <a:rPr lang="en-US" dirty="0">
                <a:solidFill>
                  <a:schemeClr val="bg1"/>
                </a:solidFill>
              </a:rPr>
              <a:t> Real-time notification system for task updates.</a:t>
            </a:r>
          </a:p>
          <a:p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22" name="Rectangle: Diagonal Corners Rounded 21">
            <a:extLst>
              <a:ext uri="{FF2B5EF4-FFF2-40B4-BE49-F238E27FC236}">
                <a16:creationId xmlns:a16="http://schemas.microsoft.com/office/drawing/2014/main" id="{4BEC7DCF-8CB6-5430-8D0B-6BF6BCD8D0DA}"/>
              </a:ext>
            </a:extLst>
          </p:cNvPr>
          <p:cNvSpPr/>
          <p:nvPr/>
        </p:nvSpPr>
        <p:spPr>
          <a:xfrm>
            <a:off x="3838575" y="347722"/>
            <a:ext cx="3876675" cy="504569"/>
          </a:xfrm>
          <a:prstGeom prst="round2Diag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B7DFE4B-DA55-2A15-3550-4DF65868EA03}"/>
              </a:ext>
            </a:extLst>
          </p:cNvPr>
          <p:cNvSpPr txBox="1"/>
          <p:nvPr/>
        </p:nvSpPr>
        <p:spPr>
          <a:xfrm>
            <a:off x="4057650" y="428625"/>
            <a:ext cx="4448175" cy="3820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b="1" dirty="0">
                <a:solidFill>
                  <a:srgbClr val="7030A0"/>
                </a:solidFill>
              </a:rPr>
              <a:t>Request and  Notifications:</a:t>
            </a:r>
          </a:p>
        </p:txBody>
      </p:sp>
    </p:spTree>
    <p:extLst>
      <p:ext uri="{BB962C8B-B14F-4D97-AF65-F5344CB8AC3E}">
        <p14:creationId xmlns:p14="http://schemas.microsoft.com/office/powerpoint/2010/main" val="3325586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F83A65C-498E-8F7C-44D1-498C44EE73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8B8A25D-E2A5-431D-2D6E-CD37D7E8C95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1216" y="1056240"/>
            <a:ext cx="4505954" cy="357062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33F6626-A0CB-03BF-C36F-D7E67BE9A42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184" y="1056240"/>
            <a:ext cx="5660136" cy="3570624"/>
          </a:xfrm>
          <a:prstGeom prst="rect">
            <a:avLst/>
          </a:prstGeom>
        </p:spPr>
      </p:pic>
      <p:sp>
        <p:nvSpPr>
          <p:cNvPr id="9" name="Arrow: Chevron 8">
            <a:extLst>
              <a:ext uri="{FF2B5EF4-FFF2-40B4-BE49-F238E27FC236}">
                <a16:creationId xmlns:a16="http://schemas.microsoft.com/office/drawing/2014/main" id="{C9DBB6C0-75D2-DBA1-6486-AB2A1E290C40}"/>
              </a:ext>
            </a:extLst>
          </p:cNvPr>
          <p:cNvSpPr/>
          <p:nvPr/>
        </p:nvSpPr>
        <p:spPr>
          <a:xfrm>
            <a:off x="429768" y="5154132"/>
            <a:ext cx="5660136" cy="313218"/>
          </a:xfrm>
          <a:prstGeom prst="chevron">
            <a:avLst/>
          </a:prstGeom>
          <a:solidFill>
            <a:schemeClr val="accent5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10" name="Arrow: Chevron 9">
            <a:extLst>
              <a:ext uri="{FF2B5EF4-FFF2-40B4-BE49-F238E27FC236}">
                <a16:creationId xmlns:a16="http://schemas.microsoft.com/office/drawing/2014/main" id="{ACA633C0-8C30-5DF0-FC50-BDF89E6267FA}"/>
              </a:ext>
            </a:extLst>
          </p:cNvPr>
          <p:cNvSpPr/>
          <p:nvPr/>
        </p:nvSpPr>
        <p:spPr>
          <a:xfrm>
            <a:off x="429768" y="5745717"/>
            <a:ext cx="5660136" cy="313218"/>
          </a:xfrm>
          <a:prstGeom prst="chevron">
            <a:avLst/>
          </a:prstGeom>
          <a:solidFill>
            <a:schemeClr val="accent5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11" name="Arrow: Chevron 10">
            <a:extLst>
              <a:ext uri="{FF2B5EF4-FFF2-40B4-BE49-F238E27FC236}">
                <a16:creationId xmlns:a16="http://schemas.microsoft.com/office/drawing/2014/main" id="{7950DFDC-74A0-7BDD-6DBA-B2C27D95A16B}"/>
              </a:ext>
            </a:extLst>
          </p:cNvPr>
          <p:cNvSpPr/>
          <p:nvPr/>
        </p:nvSpPr>
        <p:spPr>
          <a:xfrm>
            <a:off x="429768" y="6337302"/>
            <a:ext cx="5660136" cy="313218"/>
          </a:xfrm>
          <a:prstGeom prst="chevron">
            <a:avLst/>
          </a:prstGeom>
          <a:solidFill>
            <a:schemeClr val="accent5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C46BA64-27DB-D9CD-2C0E-FFC37CED406D}"/>
              </a:ext>
            </a:extLst>
          </p:cNvPr>
          <p:cNvSpPr txBox="1"/>
          <p:nvPr/>
        </p:nvSpPr>
        <p:spPr>
          <a:xfrm>
            <a:off x="533400" y="5153025"/>
            <a:ext cx="54673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1. User profile settings for updating personal details.</a:t>
            </a:r>
          </a:p>
          <a:p>
            <a:endParaRPr lang="en-IN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A6EC0D5-12B3-7FC2-7AFC-B8055196B00E}"/>
              </a:ext>
            </a:extLst>
          </p:cNvPr>
          <p:cNvSpPr txBox="1"/>
          <p:nvPr/>
        </p:nvSpPr>
        <p:spPr>
          <a:xfrm>
            <a:off x="561975" y="5723156"/>
            <a:ext cx="4495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2.</a:t>
            </a:r>
            <a:r>
              <a:rPr lang="en-US" dirty="0">
                <a:solidFill>
                  <a:schemeClr val="bg1"/>
                </a:solidFill>
              </a:rPr>
              <a:t> Upload and manage profile picture.</a:t>
            </a:r>
          </a:p>
          <a:p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827B362-8C53-26DC-D129-4ED32A9976AD}"/>
              </a:ext>
            </a:extLst>
          </p:cNvPr>
          <p:cNvSpPr txBox="1"/>
          <p:nvPr/>
        </p:nvSpPr>
        <p:spPr>
          <a:xfrm>
            <a:off x="561975" y="6324600"/>
            <a:ext cx="56601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3.</a:t>
            </a:r>
            <a:r>
              <a:rPr lang="en-US" dirty="0">
                <a:solidFill>
                  <a:schemeClr val="bg1"/>
                </a:solidFill>
              </a:rPr>
              <a:t> Final testing and bug fixing for smooth performance.</a:t>
            </a:r>
          </a:p>
          <a:p>
            <a:endParaRPr lang="en-IN" dirty="0"/>
          </a:p>
        </p:txBody>
      </p:sp>
      <p:sp>
        <p:nvSpPr>
          <p:cNvPr id="15" name="Rectangle: Diagonal Corners Rounded 14">
            <a:extLst>
              <a:ext uri="{FF2B5EF4-FFF2-40B4-BE49-F238E27FC236}">
                <a16:creationId xmlns:a16="http://schemas.microsoft.com/office/drawing/2014/main" id="{693FBCDA-1653-6D65-B245-AD21883D39C0}"/>
              </a:ext>
            </a:extLst>
          </p:cNvPr>
          <p:cNvSpPr/>
          <p:nvPr/>
        </p:nvSpPr>
        <p:spPr>
          <a:xfrm>
            <a:off x="4610100" y="347722"/>
            <a:ext cx="2524125" cy="504569"/>
          </a:xfrm>
          <a:prstGeom prst="round2Diag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1C885D5-DF64-174C-F57B-AA3763E09D93}"/>
              </a:ext>
            </a:extLst>
          </p:cNvPr>
          <p:cNvSpPr txBox="1"/>
          <p:nvPr/>
        </p:nvSpPr>
        <p:spPr>
          <a:xfrm>
            <a:off x="4705350" y="428625"/>
            <a:ext cx="2628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b="1" dirty="0">
                <a:solidFill>
                  <a:srgbClr val="7030A0"/>
                </a:solidFill>
              </a:rPr>
              <a:t>Profile Settings:</a:t>
            </a:r>
          </a:p>
        </p:txBody>
      </p:sp>
    </p:spTree>
    <p:extLst>
      <p:ext uri="{BB962C8B-B14F-4D97-AF65-F5344CB8AC3E}">
        <p14:creationId xmlns:p14="http://schemas.microsoft.com/office/powerpoint/2010/main" val="8437896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812F530-AB20-CCC6-DC21-BA98017C6F6D}"/>
              </a:ext>
            </a:extLst>
          </p:cNvPr>
          <p:cNvSpPr txBox="1"/>
          <p:nvPr/>
        </p:nvSpPr>
        <p:spPr>
          <a:xfrm>
            <a:off x="128016" y="777240"/>
            <a:ext cx="11009376" cy="37918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bg2"/>
                </a:solidFill>
              </a:rPr>
              <a:t> User Authentication with secure login and registration.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bg2"/>
                </a:solidFill>
              </a:rPr>
              <a:t> Task Posting with detailed information (title, location, time, description).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bg2"/>
                </a:solidFill>
              </a:rPr>
              <a:t> Task Browsing to explore available tasks.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bg2"/>
                </a:solidFill>
              </a:rPr>
              <a:t> Request System to send and manage task requests.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bg2"/>
                </a:solidFill>
              </a:rPr>
              <a:t>Accept / Reject functionality for task owners.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bg2"/>
                </a:solidFill>
              </a:rPr>
              <a:t>Real-time Notifications for task updates.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bg2"/>
                </a:solidFill>
              </a:rPr>
              <a:t>My Tasks and My Requests management.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bg2"/>
                </a:solidFill>
              </a:rPr>
              <a:t>Profile &amp; Settings for updating personal information.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bg2"/>
                </a:solidFill>
              </a:rPr>
              <a:t>User-friendly and responsive interface.</a:t>
            </a:r>
            <a:endParaRPr lang="en-IN" dirty="0">
              <a:solidFill>
                <a:schemeClr val="bg2"/>
              </a:solidFill>
            </a:endParaRPr>
          </a:p>
        </p:txBody>
      </p:sp>
      <p:sp>
        <p:nvSpPr>
          <p:cNvPr id="5" name="Rectangle: Diagonal Corners Rounded 4">
            <a:extLst>
              <a:ext uri="{FF2B5EF4-FFF2-40B4-BE49-F238E27FC236}">
                <a16:creationId xmlns:a16="http://schemas.microsoft.com/office/drawing/2014/main" id="{D8DE3819-5B86-FD05-44D5-FE9847B69CE2}"/>
              </a:ext>
            </a:extLst>
          </p:cNvPr>
          <p:cNvSpPr/>
          <p:nvPr/>
        </p:nvSpPr>
        <p:spPr>
          <a:xfrm>
            <a:off x="438913" y="272671"/>
            <a:ext cx="2587752" cy="504569"/>
          </a:xfrm>
          <a:prstGeom prst="round2Diag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3C23EC4-5C59-7BF4-010E-79692ADBBECC}"/>
              </a:ext>
            </a:extLst>
          </p:cNvPr>
          <p:cNvSpPr txBox="1"/>
          <p:nvPr/>
        </p:nvSpPr>
        <p:spPr>
          <a:xfrm>
            <a:off x="530352" y="347472"/>
            <a:ext cx="32095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b="1" dirty="0">
                <a:solidFill>
                  <a:srgbClr val="FF0000"/>
                </a:solidFill>
              </a:rPr>
              <a:t>Key Features:</a:t>
            </a:r>
          </a:p>
        </p:txBody>
      </p:sp>
      <p:sp>
        <p:nvSpPr>
          <p:cNvPr id="15" name="Rectangle: Diagonal Corners Rounded 14">
            <a:extLst>
              <a:ext uri="{FF2B5EF4-FFF2-40B4-BE49-F238E27FC236}">
                <a16:creationId xmlns:a16="http://schemas.microsoft.com/office/drawing/2014/main" id="{B6DF995A-B6D4-D218-EC91-D9059941F05F}"/>
              </a:ext>
            </a:extLst>
          </p:cNvPr>
          <p:cNvSpPr/>
          <p:nvPr/>
        </p:nvSpPr>
        <p:spPr>
          <a:xfrm>
            <a:off x="438914" y="4821396"/>
            <a:ext cx="2587752" cy="504569"/>
          </a:xfrm>
          <a:prstGeom prst="round2Diag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5543A77-7769-F440-C80C-128416FA2FBB}"/>
              </a:ext>
            </a:extLst>
          </p:cNvPr>
          <p:cNvSpPr txBox="1"/>
          <p:nvPr/>
        </p:nvSpPr>
        <p:spPr>
          <a:xfrm>
            <a:off x="512064" y="4901184"/>
            <a:ext cx="24140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b="1" dirty="0">
                <a:solidFill>
                  <a:srgbClr val="FF0000"/>
                </a:solidFill>
              </a:rPr>
              <a:t>Conclusion:</a:t>
            </a:r>
          </a:p>
        </p:txBody>
      </p:sp>
      <p:sp>
        <p:nvSpPr>
          <p:cNvPr id="18" name="Rectangle 1">
            <a:extLst>
              <a:ext uri="{FF2B5EF4-FFF2-40B4-BE49-F238E27FC236}">
                <a16:creationId xmlns:a16="http://schemas.microsoft.com/office/drawing/2014/main" id="{B7DE6348-F59E-3DE4-3AD5-EDA9752FCD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1168" y="5395846"/>
            <a:ext cx="12219432" cy="12875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Arial" panose="020B0604020202020204" pitchFamily="34" charset="0"/>
              </a:rPr>
              <a:t>The project demonstrates an effective solution for real-time task collaboration.</a:t>
            </a:r>
            <a:endParaRPr lang="en-US" altLang="en-US" dirty="0">
              <a:solidFill>
                <a:schemeClr val="bg2"/>
              </a:solidFill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Arial" panose="020B0604020202020204" pitchFamily="34" charset="0"/>
              </a:rPr>
              <a:t>It ensures efficient communication between task owners and helpers.</a:t>
            </a:r>
            <a:endParaRPr lang="en-US" altLang="en-US" dirty="0">
              <a:solidFill>
                <a:schemeClr val="bg2"/>
              </a:solidFill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Arial" panose="020B0604020202020204" pitchFamily="34" charset="0"/>
              </a:rPr>
              <a:t>Provides a scalable and practical approach for real-world applications.</a:t>
            </a:r>
          </a:p>
        </p:txBody>
      </p:sp>
    </p:spTree>
    <p:extLst>
      <p:ext uri="{BB962C8B-B14F-4D97-AF65-F5344CB8AC3E}">
        <p14:creationId xmlns:p14="http://schemas.microsoft.com/office/powerpoint/2010/main" val="14184322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5EFF37E-748D-55C0-21E1-49A3823CC9D4}"/>
              </a:ext>
            </a:extLst>
          </p:cNvPr>
          <p:cNvSpPr/>
          <p:nvPr/>
        </p:nvSpPr>
        <p:spPr>
          <a:xfrm>
            <a:off x="561975" y="447675"/>
            <a:ext cx="2524125" cy="504825"/>
          </a:xfrm>
          <a:prstGeom prst="rect">
            <a:avLst/>
          </a:prstGeom>
          <a:solidFill>
            <a:srgbClr val="00B0F0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18CA31F-4321-768A-29D8-EAE2489B31A6}"/>
              </a:ext>
            </a:extLst>
          </p:cNvPr>
          <p:cNvSpPr txBox="1"/>
          <p:nvPr/>
        </p:nvSpPr>
        <p:spPr>
          <a:xfrm>
            <a:off x="561975" y="447675"/>
            <a:ext cx="3657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FF00"/>
                </a:solidFill>
              </a:rPr>
              <a:t>Key Challenges: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16653208-7157-290B-335E-382FE355F690}"/>
              </a:ext>
            </a:extLst>
          </p:cNvPr>
          <p:cNvSpPr/>
          <p:nvPr/>
        </p:nvSpPr>
        <p:spPr>
          <a:xfrm>
            <a:off x="561975" y="1523999"/>
            <a:ext cx="2838450" cy="1838325"/>
          </a:xfrm>
          <a:prstGeom prst="roundRect">
            <a:avLst/>
          </a:prstGeom>
          <a:solidFill>
            <a:schemeClr val="tx2">
              <a:lumMod val="90000"/>
              <a:lumOff val="10000"/>
            </a:schemeClr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2FE34269-5995-4763-FD25-5A2451951951}"/>
              </a:ext>
            </a:extLst>
          </p:cNvPr>
          <p:cNvSpPr/>
          <p:nvPr/>
        </p:nvSpPr>
        <p:spPr>
          <a:xfrm>
            <a:off x="4219575" y="1523998"/>
            <a:ext cx="2838450" cy="1838325"/>
          </a:xfrm>
          <a:prstGeom prst="roundRect">
            <a:avLst/>
          </a:prstGeom>
          <a:solidFill>
            <a:schemeClr val="tx2">
              <a:lumMod val="90000"/>
              <a:lumOff val="10000"/>
            </a:schemeClr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338103BF-C1E9-2EC4-7841-A6EEC5607ACF}"/>
              </a:ext>
            </a:extLst>
          </p:cNvPr>
          <p:cNvSpPr/>
          <p:nvPr/>
        </p:nvSpPr>
        <p:spPr>
          <a:xfrm>
            <a:off x="8029575" y="1523997"/>
            <a:ext cx="2838450" cy="1838325"/>
          </a:xfrm>
          <a:prstGeom prst="roundRect">
            <a:avLst/>
          </a:prstGeom>
          <a:solidFill>
            <a:schemeClr val="tx2">
              <a:lumMod val="90000"/>
              <a:lumOff val="10000"/>
            </a:schemeClr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92EDEFD1-5F1B-4C5A-E75A-04C32664BB6A}"/>
              </a:ext>
            </a:extLst>
          </p:cNvPr>
          <p:cNvSpPr/>
          <p:nvPr/>
        </p:nvSpPr>
        <p:spPr>
          <a:xfrm>
            <a:off x="2390775" y="4309871"/>
            <a:ext cx="2838450" cy="1838325"/>
          </a:xfrm>
          <a:prstGeom prst="roundRect">
            <a:avLst/>
          </a:prstGeom>
          <a:solidFill>
            <a:schemeClr val="tx2">
              <a:lumMod val="90000"/>
              <a:lumOff val="10000"/>
            </a:schemeClr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BE4DEF46-F689-4A4E-D40B-EA590D1283F8}"/>
              </a:ext>
            </a:extLst>
          </p:cNvPr>
          <p:cNvSpPr/>
          <p:nvPr/>
        </p:nvSpPr>
        <p:spPr>
          <a:xfrm>
            <a:off x="6520815" y="4309870"/>
            <a:ext cx="2838450" cy="1838325"/>
          </a:xfrm>
          <a:prstGeom prst="roundRect">
            <a:avLst/>
          </a:prstGeom>
          <a:solidFill>
            <a:schemeClr val="tx2">
              <a:lumMod val="90000"/>
              <a:lumOff val="10000"/>
            </a:schemeClr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59D679F-6714-AF21-CDA4-63DDA57EDBF9}"/>
              </a:ext>
            </a:extLst>
          </p:cNvPr>
          <p:cNvSpPr txBox="1"/>
          <p:nvPr/>
        </p:nvSpPr>
        <p:spPr>
          <a:xfrm>
            <a:off x="594360" y="1627632"/>
            <a:ext cx="256222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2000" dirty="0">
                <a:solidFill>
                  <a:schemeClr val="tx2">
                    <a:lumMod val="10000"/>
                    <a:lumOff val="90000"/>
                  </a:schemeClr>
                </a:solidFill>
              </a:rPr>
              <a:t>Managing real-time request handling between task owners and helpers.</a:t>
            </a:r>
            <a:endParaRPr lang="en-IN" sz="2000" dirty="0">
              <a:solidFill>
                <a:schemeClr val="tx2">
                  <a:lumMod val="10000"/>
                  <a:lumOff val="90000"/>
                </a:schemeClr>
              </a:solidFill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en-IN" sz="20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B1577E6-4CFA-E609-98FD-17702E14A86B}"/>
              </a:ext>
            </a:extLst>
          </p:cNvPr>
          <p:cNvSpPr txBox="1"/>
          <p:nvPr/>
        </p:nvSpPr>
        <p:spPr>
          <a:xfrm>
            <a:off x="4297680" y="1664208"/>
            <a:ext cx="2760345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2000" dirty="0">
                <a:solidFill>
                  <a:schemeClr val="tx2">
                    <a:lumMod val="10000"/>
                    <a:lumOff val="90000"/>
                  </a:schemeClr>
                </a:solidFill>
              </a:rPr>
              <a:t>Maintaining data consistency and avoiding duplicate requests.</a:t>
            </a:r>
            <a:endParaRPr lang="en-IN" sz="2000" dirty="0">
              <a:solidFill>
                <a:schemeClr val="tx2">
                  <a:lumMod val="10000"/>
                  <a:lumOff val="90000"/>
                </a:schemeClr>
              </a:solidFill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413211E-8743-1AAB-FC81-E5FC3A32F9FA}"/>
              </a:ext>
            </a:extLst>
          </p:cNvPr>
          <p:cNvSpPr txBox="1"/>
          <p:nvPr/>
        </p:nvSpPr>
        <p:spPr>
          <a:xfrm>
            <a:off x="8101584" y="1664208"/>
            <a:ext cx="2670048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2000" dirty="0">
                <a:solidFill>
                  <a:schemeClr val="tx2">
                    <a:lumMod val="10000"/>
                    <a:lumOff val="90000"/>
                  </a:schemeClr>
                </a:solidFill>
              </a:rPr>
              <a:t>Ensuring proper data flow between frontend and backend.</a:t>
            </a:r>
            <a:endParaRPr lang="en-IN" sz="2000" dirty="0">
              <a:solidFill>
                <a:schemeClr val="tx2">
                  <a:lumMod val="10000"/>
                  <a:lumOff val="90000"/>
                </a:schemeClr>
              </a:solidFill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en-IN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379CE06-7D2E-60EF-922C-8E6FC8DB1681}"/>
              </a:ext>
            </a:extLst>
          </p:cNvPr>
          <p:cNvSpPr txBox="1"/>
          <p:nvPr/>
        </p:nvSpPr>
        <p:spPr>
          <a:xfrm>
            <a:off x="2395727" y="4434840"/>
            <a:ext cx="2751201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sz="2000" dirty="0">
                <a:solidFill>
                  <a:schemeClr val="tx2">
                    <a:lumMod val="10000"/>
                    <a:lumOff val="90000"/>
                  </a:schemeClr>
                </a:solidFill>
              </a:rPr>
              <a:t>Implementing an efficient notification system for instant updates.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en-IN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A737940-B19E-4F8B-1E48-EADABE732C1B}"/>
              </a:ext>
            </a:extLst>
          </p:cNvPr>
          <p:cNvSpPr txBox="1"/>
          <p:nvPr/>
        </p:nvSpPr>
        <p:spPr>
          <a:xfrm>
            <a:off x="6592824" y="4489704"/>
            <a:ext cx="261518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2000" dirty="0">
                <a:solidFill>
                  <a:schemeClr val="bg2"/>
                </a:solidFill>
              </a:rPr>
              <a:t>Handling multiple user roles (task owner and helper) effectively.</a:t>
            </a:r>
            <a:endParaRPr lang="en-IN" sz="2000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323251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A95BCA5A-4B7D-7C71-A1E8-C037768CE837}"/>
              </a:ext>
            </a:extLst>
          </p:cNvPr>
          <p:cNvSpPr/>
          <p:nvPr/>
        </p:nvSpPr>
        <p:spPr>
          <a:xfrm>
            <a:off x="488442" y="1602865"/>
            <a:ext cx="7311390" cy="504825"/>
          </a:xfrm>
          <a:prstGeom prst="roundRect">
            <a:avLst/>
          </a:prstGeom>
          <a:solidFill>
            <a:schemeClr val="accent2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B884744-4E28-FB82-A20B-D27FF8ED9070}"/>
              </a:ext>
            </a:extLst>
          </p:cNvPr>
          <p:cNvSpPr/>
          <p:nvPr/>
        </p:nvSpPr>
        <p:spPr>
          <a:xfrm>
            <a:off x="561975" y="447675"/>
            <a:ext cx="2524125" cy="504825"/>
          </a:xfrm>
          <a:prstGeom prst="rect">
            <a:avLst/>
          </a:prstGeom>
          <a:solidFill>
            <a:srgbClr val="00B0F0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F47FD42-74A6-A4FD-B3CA-4B7DBFFDD812}"/>
              </a:ext>
            </a:extLst>
          </p:cNvPr>
          <p:cNvSpPr txBox="1"/>
          <p:nvPr/>
        </p:nvSpPr>
        <p:spPr>
          <a:xfrm>
            <a:off x="621792" y="466344"/>
            <a:ext cx="22951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chemeClr val="bg2"/>
                </a:solidFill>
              </a:rPr>
              <a:t>Outcomes: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17D8D3B-F833-27E8-9D93-ADE3ADCFAD9E}"/>
              </a:ext>
            </a:extLst>
          </p:cNvPr>
          <p:cNvSpPr txBox="1"/>
          <p:nvPr/>
        </p:nvSpPr>
        <p:spPr>
          <a:xfrm>
            <a:off x="512064" y="1673352"/>
            <a:ext cx="71010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bg2"/>
                </a:solidFill>
              </a:rPr>
              <a:t>Successfully developed a functional task management platform.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dirty="0"/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99952301-C600-9236-0675-B985DE541DF5}"/>
              </a:ext>
            </a:extLst>
          </p:cNvPr>
          <p:cNvSpPr/>
          <p:nvPr/>
        </p:nvSpPr>
        <p:spPr>
          <a:xfrm>
            <a:off x="461772" y="2477937"/>
            <a:ext cx="7311390" cy="504825"/>
          </a:xfrm>
          <a:prstGeom prst="roundRect">
            <a:avLst/>
          </a:prstGeom>
          <a:solidFill>
            <a:schemeClr val="accent2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AC6A462-C6F9-6A28-1818-53743FC4B92E}"/>
              </a:ext>
            </a:extLst>
          </p:cNvPr>
          <p:cNvSpPr txBox="1"/>
          <p:nvPr/>
        </p:nvSpPr>
        <p:spPr>
          <a:xfrm>
            <a:off x="525018" y="2551176"/>
            <a:ext cx="72207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bg2"/>
                </a:solidFill>
              </a:rPr>
              <a:t>Implemented request handling and notification system effectively.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dirty="0"/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0C6EE479-4B9F-E77B-DA18-A3033CBF069D}"/>
              </a:ext>
            </a:extLst>
          </p:cNvPr>
          <p:cNvSpPr/>
          <p:nvPr/>
        </p:nvSpPr>
        <p:spPr>
          <a:xfrm>
            <a:off x="461772" y="3312427"/>
            <a:ext cx="7311390" cy="504825"/>
          </a:xfrm>
          <a:prstGeom prst="roundRect">
            <a:avLst/>
          </a:prstGeom>
          <a:solidFill>
            <a:schemeClr val="accent2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1BEFE79-F122-FC8A-4EB7-8410634AC96E}"/>
              </a:ext>
            </a:extLst>
          </p:cNvPr>
          <p:cNvSpPr txBox="1"/>
          <p:nvPr/>
        </p:nvSpPr>
        <p:spPr>
          <a:xfrm>
            <a:off x="529590" y="3374136"/>
            <a:ext cx="70012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bg2"/>
                </a:solidFill>
              </a:rPr>
              <a:t>Improved understanding of full-stack development concepts.</a:t>
            </a:r>
            <a:endParaRPr lang="en-IN" dirty="0"/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EBC17517-0576-2A75-70EB-03430BBBC5C6}"/>
              </a:ext>
            </a:extLst>
          </p:cNvPr>
          <p:cNvSpPr/>
          <p:nvPr/>
        </p:nvSpPr>
        <p:spPr>
          <a:xfrm>
            <a:off x="461772" y="4213229"/>
            <a:ext cx="7311390" cy="504825"/>
          </a:xfrm>
          <a:prstGeom prst="roundRect">
            <a:avLst/>
          </a:prstGeom>
          <a:solidFill>
            <a:schemeClr val="accent2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1EEBC75-EC50-2F91-E900-F7F447BD4A93}"/>
              </a:ext>
            </a:extLst>
          </p:cNvPr>
          <p:cNvSpPr txBox="1"/>
          <p:nvPr/>
        </p:nvSpPr>
        <p:spPr>
          <a:xfrm>
            <a:off x="525399" y="4270248"/>
            <a:ext cx="73658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bg2"/>
                </a:solidFill>
              </a:rPr>
              <a:t>Gained practical experience in real-world application development.</a:t>
            </a:r>
            <a:endParaRPr lang="en-IN" dirty="0"/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BF3D12A8-98A9-CD1F-E14C-C5D39F60296F}"/>
              </a:ext>
            </a:extLst>
          </p:cNvPr>
          <p:cNvSpPr/>
          <p:nvPr/>
        </p:nvSpPr>
        <p:spPr>
          <a:xfrm>
            <a:off x="488442" y="5052171"/>
            <a:ext cx="7311390" cy="504825"/>
          </a:xfrm>
          <a:prstGeom prst="roundRect">
            <a:avLst/>
          </a:prstGeom>
          <a:solidFill>
            <a:schemeClr val="accent2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746E582-C3B8-7F18-EC6D-258B11679DC7}"/>
              </a:ext>
            </a:extLst>
          </p:cNvPr>
          <p:cNvSpPr txBox="1"/>
          <p:nvPr/>
        </p:nvSpPr>
        <p:spPr>
          <a:xfrm>
            <a:off x="539496" y="5111496"/>
            <a:ext cx="69913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bg2"/>
                </a:solidFill>
              </a:rPr>
              <a:t>Ensured efficient task workflow from creation to completion.</a:t>
            </a:r>
            <a:endParaRPr lang="en-IN" dirty="0"/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00B68F05-6CB8-E2E3-A1E4-B824D2555977}"/>
              </a:ext>
            </a:extLst>
          </p:cNvPr>
          <p:cNvSpPr/>
          <p:nvPr/>
        </p:nvSpPr>
        <p:spPr>
          <a:xfrm>
            <a:off x="461772" y="5876397"/>
            <a:ext cx="7311390" cy="504825"/>
          </a:xfrm>
          <a:prstGeom prst="roundRect">
            <a:avLst/>
          </a:prstGeom>
          <a:solidFill>
            <a:schemeClr val="accent2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E2973C1-7E44-4370-5B51-17743A7B876A}"/>
              </a:ext>
            </a:extLst>
          </p:cNvPr>
          <p:cNvSpPr txBox="1"/>
          <p:nvPr/>
        </p:nvSpPr>
        <p:spPr>
          <a:xfrm>
            <a:off x="502920" y="5964217"/>
            <a:ext cx="72062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bg2"/>
                </a:solidFill>
              </a:rPr>
              <a:t>Gained practical experience in real-world application development.</a:t>
            </a:r>
            <a:endParaRPr lang="en-IN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67833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7AA069A-414F-E1C1-F78B-4852490396D7}"/>
              </a:ext>
            </a:extLst>
          </p:cNvPr>
          <p:cNvSpPr txBox="1"/>
          <p:nvPr/>
        </p:nvSpPr>
        <p:spPr>
          <a:xfrm>
            <a:off x="4233672" y="210312"/>
            <a:ext cx="36484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0000"/>
                </a:solidFill>
                <a:highlight>
                  <a:srgbClr val="00FF00"/>
                </a:highlight>
              </a:rPr>
              <a:t>Workflow of the Project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55A22E4-B138-8B0E-DA36-B22D7D83F58E}"/>
              </a:ext>
            </a:extLst>
          </p:cNvPr>
          <p:cNvSpPr/>
          <p:nvPr/>
        </p:nvSpPr>
        <p:spPr>
          <a:xfrm>
            <a:off x="5148072" y="859536"/>
            <a:ext cx="1316736" cy="369332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A435EF3-51CC-41A0-156B-588BFE3A6F35}"/>
              </a:ext>
            </a:extLst>
          </p:cNvPr>
          <p:cNvSpPr txBox="1"/>
          <p:nvPr/>
        </p:nvSpPr>
        <p:spPr>
          <a:xfrm>
            <a:off x="5431536" y="859536"/>
            <a:ext cx="12070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Login</a:t>
            </a:r>
          </a:p>
        </p:txBody>
      </p:sp>
      <p:sp>
        <p:nvSpPr>
          <p:cNvPr id="6" name="Arrow: Down 5">
            <a:extLst>
              <a:ext uri="{FF2B5EF4-FFF2-40B4-BE49-F238E27FC236}">
                <a16:creationId xmlns:a16="http://schemas.microsoft.com/office/drawing/2014/main" id="{E7DD41E8-1829-1E8D-2BE0-748C915CC1C4}"/>
              </a:ext>
            </a:extLst>
          </p:cNvPr>
          <p:cNvSpPr/>
          <p:nvPr/>
        </p:nvSpPr>
        <p:spPr>
          <a:xfrm>
            <a:off x="5614416" y="1228868"/>
            <a:ext cx="320040" cy="369332"/>
          </a:xfrm>
          <a:prstGeom prst="downArrow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18BA79E-5CEB-5059-FA05-1FCEDD0DC149}"/>
              </a:ext>
            </a:extLst>
          </p:cNvPr>
          <p:cNvSpPr/>
          <p:nvPr/>
        </p:nvSpPr>
        <p:spPr>
          <a:xfrm>
            <a:off x="4882896" y="1598200"/>
            <a:ext cx="1901952" cy="369332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C042608-6829-DAFC-A87A-B6D632715E02}"/>
              </a:ext>
            </a:extLst>
          </p:cNvPr>
          <p:cNvSpPr txBox="1"/>
          <p:nvPr/>
        </p:nvSpPr>
        <p:spPr>
          <a:xfrm>
            <a:off x="5148072" y="1598200"/>
            <a:ext cx="20116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Dashboard</a:t>
            </a:r>
          </a:p>
        </p:txBody>
      </p:sp>
      <p:sp>
        <p:nvSpPr>
          <p:cNvPr id="9" name="Arrow: Down 8">
            <a:extLst>
              <a:ext uri="{FF2B5EF4-FFF2-40B4-BE49-F238E27FC236}">
                <a16:creationId xmlns:a16="http://schemas.microsoft.com/office/drawing/2014/main" id="{723272B2-BBA9-1B44-0AD4-681A94F28954}"/>
              </a:ext>
            </a:extLst>
          </p:cNvPr>
          <p:cNvSpPr/>
          <p:nvPr/>
        </p:nvSpPr>
        <p:spPr>
          <a:xfrm>
            <a:off x="5614416" y="1967532"/>
            <a:ext cx="320040" cy="369332"/>
          </a:xfrm>
          <a:prstGeom prst="downArrow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2B81C34-054F-2B14-C746-9F16241DB82D}"/>
              </a:ext>
            </a:extLst>
          </p:cNvPr>
          <p:cNvSpPr/>
          <p:nvPr/>
        </p:nvSpPr>
        <p:spPr>
          <a:xfrm>
            <a:off x="4590288" y="2348008"/>
            <a:ext cx="2423160" cy="369332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862C919-438A-C10C-61EA-24D02C2E07C3}"/>
              </a:ext>
            </a:extLst>
          </p:cNvPr>
          <p:cNvSpPr txBox="1"/>
          <p:nvPr/>
        </p:nvSpPr>
        <p:spPr>
          <a:xfrm>
            <a:off x="5276088" y="2340864"/>
            <a:ext cx="24780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Post Task</a:t>
            </a:r>
          </a:p>
        </p:txBody>
      </p:sp>
      <p:sp>
        <p:nvSpPr>
          <p:cNvPr id="12" name="Arrow: Down 11">
            <a:extLst>
              <a:ext uri="{FF2B5EF4-FFF2-40B4-BE49-F238E27FC236}">
                <a16:creationId xmlns:a16="http://schemas.microsoft.com/office/drawing/2014/main" id="{879E9027-CAFD-7ABE-F887-B6500BAB7F7F}"/>
              </a:ext>
            </a:extLst>
          </p:cNvPr>
          <p:cNvSpPr/>
          <p:nvPr/>
        </p:nvSpPr>
        <p:spPr>
          <a:xfrm>
            <a:off x="5631942" y="2714196"/>
            <a:ext cx="348996" cy="377332"/>
          </a:xfrm>
          <a:prstGeom prst="downArrow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828DFA7-964C-1CE8-0E43-DC7C027236AB}"/>
              </a:ext>
            </a:extLst>
          </p:cNvPr>
          <p:cNvSpPr/>
          <p:nvPr/>
        </p:nvSpPr>
        <p:spPr>
          <a:xfrm>
            <a:off x="4233672" y="3082384"/>
            <a:ext cx="3118104" cy="377332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7CA2C85-2AC7-854F-4C18-495F7FF20EDF}"/>
              </a:ext>
            </a:extLst>
          </p:cNvPr>
          <p:cNvSpPr txBox="1"/>
          <p:nvPr/>
        </p:nvSpPr>
        <p:spPr>
          <a:xfrm>
            <a:off x="5276088" y="3090672"/>
            <a:ext cx="28712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Request</a:t>
            </a:r>
          </a:p>
        </p:txBody>
      </p:sp>
      <p:sp>
        <p:nvSpPr>
          <p:cNvPr id="15" name="Arrow: Down 14">
            <a:extLst>
              <a:ext uri="{FF2B5EF4-FFF2-40B4-BE49-F238E27FC236}">
                <a16:creationId xmlns:a16="http://schemas.microsoft.com/office/drawing/2014/main" id="{1F1ECDB9-99CA-5DEB-27AA-A18B1273631D}"/>
              </a:ext>
            </a:extLst>
          </p:cNvPr>
          <p:cNvSpPr/>
          <p:nvPr/>
        </p:nvSpPr>
        <p:spPr>
          <a:xfrm>
            <a:off x="5631942" y="3459716"/>
            <a:ext cx="302514" cy="376188"/>
          </a:xfrm>
          <a:prstGeom prst="downArrow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D9420C9-2015-BCB2-78D6-9758F98B7E7C}"/>
              </a:ext>
            </a:extLst>
          </p:cNvPr>
          <p:cNvSpPr/>
          <p:nvPr/>
        </p:nvSpPr>
        <p:spPr>
          <a:xfrm>
            <a:off x="3895344" y="3835904"/>
            <a:ext cx="3785616" cy="377332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8FDB667-956C-4D05-DF84-078E69E5B2AE}"/>
              </a:ext>
            </a:extLst>
          </p:cNvPr>
          <p:cNvSpPr txBox="1"/>
          <p:nvPr/>
        </p:nvSpPr>
        <p:spPr>
          <a:xfrm>
            <a:off x="5010912" y="3867912"/>
            <a:ext cx="24048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Accept/Reject</a:t>
            </a:r>
          </a:p>
        </p:txBody>
      </p:sp>
      <p:sp>
        <p:nvSpPr>
          <p:cNvPr id="18" name="Arrow: Down 17">
            <a:extLst>
              <a:ext uri="{FF2B5EF4-FFF2-40B4-BE49-F238E27FC236}">
                <a16:creationId xmlns:a16="http://schemas.microsoft.com/office/drawing/2014/main" id="{0D282C9B-AEB4-9BFC-9F7B-90867087F28E}"/>
              </a:ext>
            </a:extLst>
          </p:cNvPr>
          <p:cNvSpPr/>
          <p:nvPr/>
        </p:nvSpPr>
        <p:spPr>
          <a:xfrm>
            <a:off x="5631942" y="4213236"/>
            <a:ext cx="302514" cy="375900"/>
          </a:xfrm>
          <a:prstGeom prst="downArrow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385CA3F-CD6A-D0B9-48CC-38EF0086B962}"/>
              </a:ext>
            </a:extLst>
          </p:cNvPr>
          <p:cNvSpPr/>
          <p:nvPr/>
        </p:nvSpPr>
        <p:spPr>
          <a:xfrm>
            <a:off x="3447288" y="4589136"/>
            <a:ext cx="4700016" cy="377332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8BB8641-EE39-9A3C-9534-DD9D550DBDB3}"/>
              </a:ext>
            </a:extLst>
          </p:cNvPr>
          <p:cNvSpPr txBox="1"/>
          <p:nvPr/>
        </p:nvSpPr>
        <p:spPr>
          <a:xfrm>
            <a:off x="5010912" y="4617720"/>
            <a:ext cx="24048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Task Assigned</a:t>
            </a:r>
          </a:p>
        </p:txBody>
      </p:sp>
      <p:sp>
        <p:nvSpPr>
          <p:cNvPr id="21" name="Arrow: Down 20">
            <a:extLst>
              <a:ext uri="{FF2B5EF4-FFF2-40B4-BE49-F238E27FC236}">
                <a16:creationId xmlns:a16="http://schemas.microsoft.com/office/drawing/2014/main" id="{C0778E65-E8CD-580A-B31B-BB56702623A8}"/>
              </a:ext>
            </a:extLst>
          </p:cNvPr>
          <p:cNvSpPr/>
          <p:nvPr/>
        </p:nvSpPr>
        <p:spPr>
          <a:xfrm>
            <a:off x="5614416" y="4966468"/>
            <a:ext cx="344424" cy="399908"/>
          </a:xfrm>
          <a:prstGeom prst="downArrow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DE53E8A-C7BA-E776-432B-3398A85E2D9B}"/>
              </a:ext>
            </a:extLst>
          </p:cNvPr>
          <p:cNvSpPr/>
          <p:nvPr/>
        </p:nvSpPr>
        <p:spPr>
          <a:xfrm>
            <a:off x="3063240" y="5366376"/>
            <a:ext cx="5641848" cy="377332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595EC43-4AAF-D141-2F9B-16DF374D3ED0}"/>
              </a:ext>
            </a:extLst>
          </p:cNvPr>
          <p:cNvSpPr txBox="1"/>
          <p:nvPr/>
        </p:nvSpPr>
        <p:spPr>
          <a:xfrm>
            <a:off x="5148072" y="5376672"/>
            <a:ext cx="2103120" cy="366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Completed</a:t>
            </a:r>
          </a:p>
        </p:txBody>
      </p:sp>
    </p:spTree>
    <p:extLst>
      <p:ext uri="{BB962C8B-B14F-4D97-AF65-F5344CB8AC3E}">
        <p14:creationId xmlns:p14="http://schemas.microsoft.com/office/powerpoint/2010/main" val="16284157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B8F4336-4C39-FFC5-4324-C04140D41D16}"/>
              </a:ext>
            </a:extLst>
          </p:cNvPr>
          <p:cNvSpPr txBox="1"/>
          <p:nvPr/>
        </p:nvSpPr>
        <p:spPr>
          <a:xfrm>
            <a:off x="4270247" y="2139696"/>
            <a:ext cx="398792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800" b="1" dirty="0">
                <a:solidFill>
                  <a:schemeClr val="accent3">
                    <a:lumMod val="60000"/>
                    <a:lumOff val="40000"/>
                  </a:schemeClr>
                </a:solidFill>
                <a:latin typeface="Algerian" panose="04020705040A02060702" pitchFamily="82" charset="0"/>
              </a:rPr>
              <a:t>Thank You !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1807F31-4AB3-7811-2033-8DF27E01897C}"/>
              </a:ext>
            </a:extLst>
          </p:cNvPr>
          <p:cNvSpPr txBox="1"/>
          <p:nvPr/>
        </p:nvSpPr>
        <p:spPr>
          <a:xfrm>
            <a:off x="4389120" y="3108960"/>
            <a:ext cx="33467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Algerian" panose="04020705040A02060702" pitchFamily="82" charset="0"/>
              </a:rPr>
              <a:t>            </a:t>
            </a:r>
            <a:r>
              <a:rPr lang="en-IN" b="1" dirty="0">
                <a:solidFill>
                  <a:schemeClr val="accent3">
                    <a:lumMod val="60000"/>
                    <a:lumOff val="40000"/>
                  </a:schemeClr>
                </a:solidFill>
                <a:latin typeface="Algerian" panose="04020705040A02060702" pitchFamily="82" charset="0"/>
              </a:rPr>
              <a:t>Any Questions ?</a:t>
            </a:r>
          </a:p>
        </p:txBody>
      </p:sp>
    </p:spTree>
    <p:extLst>
      <p:ext uri="{BB962C8B-B14F-4D97-AF65-F5344CB8AC3E}">
        <p14:creationId xmlns:p14="http://schemas.microsoft.com/office/powerpoint/2010/main" val="3858916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606</TotalTime>
  <Words>605</Words>
  <Application>Microsoft Office PowerPoint</Application>
  <PresentationFormat>Widescreen</PresentationFormat>
  <Paragraphs>82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0" baseType="lpstr">
      <vt:lpstr>Algerian</vt:lpstr>
      <vt:lpstr>Aptos</vt:lpstr>
      <vt:lpstr>Aptos Display</vt:lpstr>
      <vt:lpstr>Arial</vt:lpstr>
      <vt:lpstr>Arial Black</vt:lpstr>
      <vt:lpstr>Times New Roman</vt:lpstr>
      <vt:lpstr>Wingdings</vt:lpstr>
      <vt:lpstr>Office Theme</vt:lpstr>
      <vt:lpstr>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Goutam Rana</dc:creator>
  <cp:lastModifiedBy>Goutam Rana</cp:lastModifiedBy>
  <cp:revision>8</cp:revision>
  <dcterms:created xsi:type="dcterms:W3CDTF">2026-03-16T08:36:29Z</dcterms:created>
  <dcterms:modified xsi:type="dcterms:W3CDTF">2026-03-30T18:55:06Z</dcterms:modified>
</cp:coreProperties>
</file>